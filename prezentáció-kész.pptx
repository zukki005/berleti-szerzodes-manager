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9144000" cy="5143500" type="screen16x9"/>
  <p:notesSz cx="6858000" cy="9144000"/>
  <p:embeddedFontLst>
    <p:embeddedFont>
      <p:font typeface="Merriweather" panose="020B0604020202020204" charset="-18"/>
      <p:regular r:id="rId36"/>
      <p:bold r:id="rId37"/>
      <p:italic r:id="rId38"/>
      <p:boldItalic r:id="rId39"/>
    </p:embeddedFont>
    <p:embeddedFont>
      <p:font typeface="Roboto" panose="020B0604020202020204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68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7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b5db603d42_1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b5db603d42_1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b5db603d42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b5db603d42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b5db603d42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b5db603d42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5db603d42_1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b5db603d42_1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5db603d42_1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b5db603d42_1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5db603d42_1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b5db603d42_1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5db603d42_1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b5db603d42_1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5db603d42_1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b5db603d42_1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5db603d42_1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b5db603d42_1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5db603d42_1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b5db603d42_1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61a7523e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b61a7523e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61a7523e9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b61a7523e9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5db603d42_1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b5db603d42_1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5db603d42_1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b5db603d42_1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b5db603d42_1_1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b5db603d42_1_1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b5db603d42_1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b5db603d42_1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b5db603d42_1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b5db603d42_1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b5db603d42_1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b5db603d42_1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b5db603d42_1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b5db603d42_1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b5db603d42_1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b5db603d42_1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b61a7523e9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b61a7523e9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b5db603d42_1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b5db603d42_1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b61a7523e9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b61a7523e9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b5db603d42_1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b5db603d42_1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b5db603d42_1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b5db603d42_1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b5db603d42_1_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b5db603d42_1_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b61a7523e9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b61a7523e9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b61a7523e9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b61a7523e9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b61a7523e9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b61a7523e9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b5db603d42_1_1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b5db603d42_1_1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b5db603d42_1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b5db603d42_1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b5db603d42_1_1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b5db603d42_1_1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accent3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avLst/>
            <a:gdLst/>
            <a:ahLst/>
            <a:cxnLst/>
            <a:rect l="l" t="t" r="r" b="b"/>
            <a:pathLst>
              <a:path w="365770" h="175924" extrusionOk="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avLst/>
            <a:gdLst/>
            <a:ahLst/>
            <a:cxnLst/>
            <a:rect l="l" t="t" r="r" b="b"/>
            <a:pathLst>
              <a:path w="172545" h="175975" extrusionOk="0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avLst/>
            <a:gdLst/>
            <a:ahLst/>
            <a:cxnLst/>
            <a:rect l="l" t="t" r="r" b="b"/>
            <a:pathLst>
              <a:path w="172676" h="175824" extrusionOk="0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2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1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>
            <a:spLocks noGrp="1"/>
          </p:cNvSpPr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ubTitle" idx="1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2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body" idx="1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title" hasCustomPrompt="1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>
            <a:spLocks noGrp="1"/>
          </p:cNvSpPr>
          <p:nvPr>
            <p:ph type="body" idx="1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radigm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>
            <a:spLocks noGrp="1"/>
          </p:cNvSpPr>
          <p:nvPr>
            <p:ph type="ctrTitle"/>
          </p:nvPr>
        </p:nvSpPr>
        <p:spPr>
          <a:xfrm>
            <a:off x="311700" y="520475"/>
            <a:ext cx="8520600" cy="128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4700"/>
              <a:t>Szoftvertesztelés projektfeladat</a:t>
            </a:r>
            <a:endParaRPr sz="4700"/>
          </a:p>
        </p:txBody>
      </p:sp>
      <p:sp>
        <p:nvSpPr>
          <p:cNvPr id="65" name="Google Shape;65;p13"/>
          <p:cNvSpPr txBox="1">
            <a:spLocks noGrp="1"/>
          </p:cNvSpPr>
          <p:nvPr>
            <p:ph type="subTitle" idx="1"/>
          </p:nvPr>
        </p:nvSpPr>
        <p:spPr>
          <a:xfrm>
            <a:off x="5118075" y="4103560"/>
            <a:ext cx="4242600" cy="73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>
                <a:solidFill>
                  <a:schemeClr val="lt1"/>
                </a:solidFill>
              </a:rPr>
              <a:t>Csapat tagjai: Bauer Bálint, Járfás Erik, </a:t>
            </a:r>
            <a:endParaRPr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>
                <a:solidFill>
                  <a:schemeClr val="lt1"/>
                </a:solidFill>
              </a:rPr>
              <a:t>Horváth Márk, Bogdán Letti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Csapatok bemutatása</a:t>
            </a:r>
            <a:endParaRPr sz="3500"/>
          </a:p>
        </p:txBody>
      </p:sp>
      <p:sp>
        <p:nvSpPr>
          <p:cNvPr id="71" name="Google Shape;71;p14"/>
          <p:cNvSpPr txBox="1">
            <a:spLocks noGrp="1"/>
          </p:cNvSpPr>
          <p:nvPr>
            <p:ph type="body" idx="1"/>
          </p:nvPr>
        </p:nvSpPr>
        <p:spPr>
          <a:xfrm>
            <a:off x="4644675" y="377100"/>
            <a:ext cx="4166400" cy="4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hu" sz="2000">
                <a:solidFill>
                  <a:schemeClr val="dk1"/>
                </a:solidFill>
              </a:rPr>
              <a:t>Bérleti szerződés manager szoftver csapata:</a:t>
            </a:r>
            <a:endParaRPr sz="2000">
              <a:solidFill>
                <a:schemeClr val="dk1"/>
              </a:solidFill>
            </a:endParaRPr>
          </a:p>
          <a:p>
            <a:pPr marL="914400" lvl="1" indent="-3238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</a:pPr>
            <a:r>
              <a:rPr lang="hu" sz="1500">
                <a:solidFill>
                  <a:schemeClr val="dk1"/>
                </a:solidFill>
              </a:rPr>
              <a:t>Bauer Bálint: Tesztvezető</a:t>
            </a:r>
            <a:endParaRPr sz="1500">
              <a:solidFill>
                <a:schemeClr val="dk1"/>
              </a:solidFill>
            </a:endParaRPr>
          </a:p>
          <a:p>
            <a:pPr marL="91440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</a:pPr>
            <a:r>
              <a:rPr lang="hu" sz="1500">
                <a:solidFill>
                  <a:schemeClr val="dk1"/>
                </a:solidFill>
              </a:rPr>
              <a:t>Járfás Erik: Kézi Tesztelő, Hibarögzítő</a:t>
            </a:r>
            <a:endParaRPr sz="1500">
              <a:solidFill>
                <a:schemeClr val="dk1"/>
              </a:solidFill>
            </a:endParaRPr>
          </a:p>
          <a:p>
            <a:pPr marL="91440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</a:pPr>
            <a:r>
              <a:rPr lang="hu" sz="1500">
                <a:solidFill>
                  <a:schemeClr val="dk1"/>
                </a:solidFill>
              </a:rPr>
              <a:t>Horváth Márk: Teszt Tervező </a:t>
            </a:r>
            <a:endParaRPr sz="1500">
              <a:solidFill>
                <a:schemeClr val="dk1"/>
              </a:solidFill>
            </a:endParaRPr>
          </a:p>
          <a:p>
            <a:pPr marL="91440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</a:pPr>
            <a:r>
              <a:rPr lang="hu" sz="1500">
                <a:solidFill>
                  <a:schemeClr val="dk1"/>
                </a:solidFill>
              </a:rPr>
              <a:t>Bogdán Letti: Tesztelő</a:t>
            </a:r>
            <a:endParaRPr sz="1500">
              <a:solidFill>
                <a:schemeClr val="dk1"/>
              </a:solidFill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hu" sz="2000">
                <a:solidFill>
                  <a:schemeClr val="dk1"/>
                </a:solidFill>
              </a:rPr>
              <a:t>Könyvtári kölcsönző rendszer szoftver csapata:</a:t>
            </a:r>
            <a:endParaRPr sz="2000">
              <a:solidFill>
                <a:schemeClr val="dk1"/>
              </a:solidFill>
            </a:endParaRPr>
          </a:p>
          <a:p>
            <a:pPr marL="914400" lvl="1" indent="-32385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</a:pPr>
            <a:r>
              <a:rPr lang="hu" sz="1500">
                <a:solidFill>
                  <a:schemeClr val="dk1"/>
                </a:solidFill>
              </a:rPr>
              <a:t>Káldor Levente: Projektvezető </a:t>
            </a:r>
            <a:endParaRPr sz="1500">
              <a:solidFill>
                <a:schemeClr val="dk1"/>
              </a:solidFill>
            </a:endParaRPr>
          </a:p>
          <a:p>
            <a:pPr marL="91440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</a:pPr>
            <a:r>
              <a:rPr lang="hu" sz="1500">
                <a:solidFill>
                  <a:schemeClr val="dk1"/>
                </a:solidFill>
              </a:rPr>
              <a:t>Lőrincz Márton: Projekt Tesztelési Vezető</a:t>
            </a:r>
            <a:endParaRPr sz="1500">
              <a:solidFill>
                <a:schemeClr val="dk1"/>
              </a:solidFill>
            </a:endParaRPr>
          </a:p>
          <a:p>
            <a:pPr marL="91440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</a:pPr>
            <a:r>
              <a:rPr lang="hu" sz="1500">
                <a:solidFill>
                  <a:schemeClr val="dk1"/>
                </a:solidFill>
              </a:rPr>
              <a:t>Csikós Bendegúz: Tesztelési Koordinátor</a:t>
            </a:r>
            <a:endParaRPr sz="1500">
              <a:solidFill>
                <a:schemeClr val="dk1"/>
              </a:solidFill>
            </a:endParaRPr>
          </a:p>
          <a:p>
            <a:pPr marL="914400" lvl="1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</a:pPr>
            <a:r>
              <a:rPr lang="hu" sz="1500">
                <a:solidFill>
                  <a:schemeClr val="dk1"/>
                </a:solidFill>
              </a:rPr>
              <a:t>Juhász Arnold: Rendszer- Specifikáció- és Ütemterv Tervező </a:t>
            </a:r>
            <a:endParaRPr sz="1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Feladatunk</a:t>
            </a:r>
            <a:endParaRPr sz="3500"/>
          </a:p>
        </p:txBody>
      </p:sp>
      <p:sp>
        <p:nvSpPr>
          <p:cNvPr id="77" name="Google Shape;77;p15"/>
          <p:cNvSpPr txBox="1">
            <a:spLocks noGrp="1"/>
          </p:cNvSpPr>
          <p:nvPr>
            <p:ph type="body" idx="1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egy Java konzolos szoftver fejlesztése, illetve tesztelése</a:t>
            </a: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általunk választott csapat szoftverének a tesztelése</a:t>
            </a: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folyamatok dokumentálása, jegyzőkönyv készítése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Célunk</a:t>
            </a:r>
            <a:endParaRPr sz="3500"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Szoftvertesztelés és fejlesztés folyamatának bemutatása</a:t>
            </a: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működőképes konzolos alkalmazás fejlesztése</a:t>
            </a: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konzolos alkalmazás teljes körű, részletes tesztelése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11750" y="1834950"/>
            <a:ext cx="7347600" cy="147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4000"/>
              <a:t>Fejlesztett programunk:</a:t>
            </a:r>
            <a:endParaRPr sz="4000"/>
          </a:p>
          <a:p>
            <a:pPr marL="0" lvl="0" indent="0" algn="ctr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hu" sz="4000"/>
              <a:t>Bérleti szerződés manager</a:t>
            </a:r>
            <a:endParaRPr sz="4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Fejlesztés feladatai</a:t>
            </a:r>
            <a:endParaRPr sz="3500"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specifikáció bővítése</a:t>
            </a: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szoftver megtervezése</a:t>
            </a: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felhasználói útmutató készítése</a:t>
            </a: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fejlesztés</a:t>
            </a: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fejlesztői dokumentáció</a:t>
            </a: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tesztelési jegyzőkönyv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Program céljai</a:t>
            </a:r>
            <a:endParaRPr sz="3500"/>
          </a:p>
        </p:txBody>
      </p:sp>
      <p:sp>
        <p:nvSpPr>
          <p:cNvPr id="100" name="Google Shape;100;p19"/>
          <p:cNvSpPr txBox="1">
            <a:spLocks noGrp="1"/>
          </p:cNvSpPr>
          <p:nvPr>
            <p:ph type="body" idx="1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ingatlanbérleti szerződések teljes életciklusának kezelése</a:t>
            </a: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létrehozás, módosítás, törlés, lejárat figyelés</a:t>
            </a: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digitális, biztonságos nyilvántartás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Program funkciói</a:t>
            </a:r>
            <a:endParaRPr sz="3500"/>
          </a:p>
        </p:txBody>
      </p:sp>
      <p:sp>
        <p:nvSpPr>
          <p:cNvPr id="106" name="Google Shape;106;p20"/>
          <p:cNvSpPr txBox="1">
            <a:spLocks noGrp="1"/>
          </p:cNvSpPr>
          <p:nvPr>
            <p:ph type="body" idx="1"/>
          </p:nvPr>
        </p:nvSpPr>
        <p:spPr>
          <a:xfrm>
            <a:off x="4654300" y="221575"/>
            <a:ext cx="4166400" cy="4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szerződések teljes életciklusának kezelése</a:t>
            </a: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szerződések listázása, új szerződés hozzáadása, törlés, keresés, legolcsóbb bérleti díj lekérdezése</a:t>
            </a: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hibás rögzítés megakadályozása</a:t>
            </a: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adatok fájlba mentése és betöltése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Fejlesztés folyamata</a:t>
            </a:r>
            <a:endParaRPr sz="3500"/>
          </a:p>
        </p:txBody>
      </p:sp>
      <p:sp>
        <p:nvSpPr>
          <p:cNvPr id="112" name="Google Shape;112;p21"/>
          <p:cNvSpPr txBox="1">
            <a:spLocks noGrp="1"/>
          </p:cNvSpPr>
          <p:nvPr>
            <p:ph type="body" idx="1"/>
          </p:nvPr>
        </p:nvSpPr>
        <p:spPr>
          <a:xfrm>
            <a:off x="4496100" y="113675"/>
            <a:ext cx="4647900" cy="481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követelmények meghatározása </a:t>
            </a: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program szerkezetének megtervezése</a:t>
            </a: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osztályok és interfészek létrehozása </a:t>
            </a: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funkciók implementálása </a:t>
            </a: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hibakezelés és adatellenőrzés </a:t>
            </a: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tesztelés</a:t>
            </a: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dokumentálás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Program</a:t>
            </a:r>
            <a:endParaRPr sz="35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felépítése</a:t>
            </a:r>
            <a:endParaRPr sz="3500"/>
          </a:p>
        </p:txBody>
      </p:sp>
      <p:sp>
        <p:nvSpPr>
          <p:cNvPr id="118" name="Google Shape;118;p22"/>
          <p:cNvSpPr txBox="1">
            <a:spLocks noGrp="1"/>
          </p:cNvSpPr>
          <p:nvPr>
            <p:ph type="body" idx="1"/>
          </p:nvPr>
        </p:nvSpPr>
        <p:spPr>
          <a:xfrm>
            <a:off x="4644675" y="279375"/>
            <a:ext cx="4166400" cy="4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a program főbb osztályai és interfészei:</a:t>
            </a:r>
            <a:endParaRPr sz="2300">
              <a:solidFill>
                <a:schemeClr val="dk1"/>
              </a:solidFill>
            </a:endParaRPr>
          </a:p>
          <a:p>
            <a:pPr marL="914400" lvl="1" indent="-3429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hu" sz="1800">
                <a:solidFill>
                  <a:schemeClr val="dk1"/>
                </a:solidFill>
              </a:rPr>
              <a:t>Main - program indítása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hu" sz="1800">
                <a:solidFill>
                  <a:schemeClr val="dk1"/>
                </a:solidFill>
              </a:rPr>
              <a:t>Szerzodes - szerződés adatai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hu" sz="1800">
                <a:solidFill>
                  <a:schemeClr val="dk1"/>
                </a:solidFill>
              </a:rPr>
              <a:t>Berlo - bérlő adatai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hu" sz="1800">
                <a:solidFill>
                  <a:schemeClr val="dk1"/>
                </a:solidFill>
              </a:rPr>
              <a:t>BerbeAdo - bérbeadó adatai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hu" sz="1800">
                <a:solidFill>
                  <a:schemeClr val="dk1"/>
                </a:solidFill>
              </a:rPr>
              <a:t>iEv, iHonap, iNap - dátum ellenőrző interfészek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Char char="○"/>
            </a:pPr>
            <a:r>
              <a:rPr lang="hu" sz="1800">
                <a:solidFill>
                  <a:schemeClr val="dk1"/>
                </a:solidFill>
              </a:rPr>
              <a:t>Segédmetódusok - adatbekérés, fájlkezelés, keresés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Program működése</a:t>
            </a:r>
            <a:endParaRPr sz="3500"/>
          </a:p>
        </p:txBody>
      </p:sp>
      <p:sp>
        <p:nvSpPr>
          <p:cNvPr id="124" name="Google Shape;124;p23"/>
          <p:cNvSpPr txBox="1">
            <a:spLocks noGrp="1"/>
          </p:cNvSpPr>
          <p:nvPr>
            <p:ph type="body" idx="1"/>
          </p:nvPr>
        </p:nvSpPr>
        <p:spPr>
          <a:xfrm>
            <a:off x="4663950" y="279400"/>
            <a:ext cx="4166400" cy="4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program indítása</a:t>
            </a: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szerződések betöltése</a:t>
            </a: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főmenü megjelenítése</a:t>
            </a: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művelet kiválasztása</a:t>
            </a: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adatok ellenőrzött bekérése</a:t>
            </a: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eredmény megjelenítése</a:t>
            </a: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kilépés vagy új művelet választása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3500" y="542438"/>
            <a:ext cx="5977000" cy="405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00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799798" cy="483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69300" y="152400"/>
            <a:ext cx="2701318" cy="4838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39761" y="152400"/>
            <a:ext cx="2641989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Fejlesztői dokumentáció</a:t>
            </a:r>
            <a:endParaRPr sz="3500"/>
          </a:p>
        </p:txBody>
      </p:sp>
      <p:sp>
        <p:nvSpPr>
          <p:cNvPr id="142" name="Google Shape;142;p26"/>
          <p:cNvSpPr txBox="1">
            <a:spLocks noGrp="1"/>
          </p:cNvSpPr>
          <p:nvPr>
            <p:ph type="body" idx="1"/>
          </p:nvPr>
        </p:nvSpPr>
        <p:spPr>
          <a:xfrm>
            <a:off x="4650100" y="238900"/>
            <a:ext cx="4386600" cy="481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Objektumorientált felépítés </a:t>
            </a: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Moduláris szerkezet</a:t>
            </a: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Adatellenőrzés regex és feltételek segítségével</a:t>
            </a: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Hibakezelés try-catch blokkokkal 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Felhasználói útmutató</a:t>
            </a:r>
            <a:endParaRPr sz="3500"/>
          </a:p>
        </p:txBody>
      </p:sp>
      <p:sp>
        <p:nvSpPr>
          <p:cNvPr id="148" name="Google Shape;148;p27"/>
          <p:cNvSpPr txBox="1">
            <a:spLocks noGrp="1"/>
          </p:cNvSpPr>
          <p:nvPr>
            <p:ph type="body" idx="1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konzolos menü megjelenése</a:t>
            </a: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menüpont kiválasztása</a:t>
            </a: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adatok ellenőrzött bekérése</a:t>
            </a: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kimenet megjelenítése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8"/>
          <p:cNvSpPr txBox="1">
            <a:spLocks noGrp="1"/>
          </p:cNvSpPr>
          <p:nvPr>
            <p:ph type="title"/>
          </p:nvPr>
        </p:nvSpPr>
        <p:spPr>
          <a:xfrm>
            <a:off x="185450" y="1589250"/>
            <a:ext cx="8445600" cy="19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4000"/>
              <a:t>Tesztelt programunk:</a:t>
            </a:r>
            <a:endParaRPr sz="40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4000"/>
              <a:t>Könyvtári kölcsönző rendszer</a:t>
            </a:r>
            <a:endParaRPr sz="4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9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Tesztelés feladatai</a:t>
            </a:r>
            <a:endParaRPr sz="3500"/>
          </a:p>
        </p:txBody>
      </p:sp>
      <p:sp>
        <p:nvSpPr>
          <p:cNvPr id="159" name="Google Shape;159;p29"/>
          <p:cNvSpPr txBox="1">
            <a:spLocks noGrp="1"/>
          </p:cNvSpPr>
          <p:nvPr>
            <p:ph type="body" idx="1"/>
          </p:nvPr>
        </p:nvSpPr>
        <p:spPr>
          <a:xfrm>
            <a:off x="4644675" y="289025"/>
            <a:ext cx="4166400" cy="4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 dirty="0">
                <a:solidFill>
                  <a:schemeClr val="dk1"/>
                </a:solidFill>
              </a:rPr>
              <a:t>Specifikáció, TUI tesztelése</a:t>
            </a:r>
            <a:endParaRPr sz="2300" dirty="0">
              <a:solidFill>
                <a:schemeClr val="dk1"/>
              </a:solidFill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 dirty="0">
                <a:solidFill>
                  <a:schemeClr val="dk1"/>
                </a:solidFill>
              </a:rPr>
              <a:t>tesztelési terv készítése</a:t>
            </a:r>
            <a:endParaRPr sz="2300" dirty="0">
              <a:solidFill>
                <a:schemeClr val="dk1"/>
              </a:solidFill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 dirty="0">
                <a:solidFill>
                  <a:schemeClr val="dk1"/>
                </a:solidFill>
              </a:rPr>
              <a:t>tesztelési alapelvek, tesztpiramis szintjeinek ismertetése</a:t>
            </a:r>
            <a:endParaRPr sz="2300" dirty="0">
              <a:solidFill>
                <a:schemeClr val="dk1"/>
              </a:solidFill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 dirty="0">
                <a:solidFill>
                  <a:schemeClr val="dk1"/>
                </a:solidFill>
              </a:rPr>
              <a:t>statikus tesztelési technikák</a:t>
            </a:r>
            <a:endParaRPr sz="2300" dirty="0">
              <a:solidFill>
                <a:schemeClr val="dk1"/>
              </a:solidFill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 dirty="0">
                <a:solidFill>
                  <a:schemeClr val="dk1"/>
                </a:solidFill>
              </a:rPr>
              <a:t>hibák jelzése, újratesztelése</a:t>
            </a:r>
            <a:endParaRPr sz="2300" dirty="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0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Tesztelt program feladatai</a:t>
            </a:r>
            <a:endParaRPr sz="3500"/>
          </a:p>
        </p:txBody>
      </p:sp>
      <p:sp>
        <p:nvSpPr>
          <p:cNvPr id="165" name="Google Shape;165;p30"/>
          <p:cNvSpPr txBox="1">
            <a:spLocks noGrp="1"/>
          </p:cNvSpPr>
          <p:nvPr>
            <p:ph type="body" idx="1"/>
          </p:nvPr>
        </p:nvSpPr>
        <p:spPr>
          <a:xfrm>
            <a:off x="4423100" y="375000"/>
            <a:ext cx="4787100" cy="439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74650" algn="l" rtl="0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 dirty="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Könyvleltár kezelés 5 kategóriában</a:t>
            </a:r>
            <a:endParaRPr sz="2300" dirty="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74650" algn="l" rtl="0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ptos"/>
              <a:buChar char="●"/>
            </a:pPr>
            <a:r>
              <a:rPr lang="hu" sz="2300" dirty="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Tag regisztráció és kezelés</a:t>
            </a:r>
            <a:endParaRPr sz="2300" dirty="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74650" algn="l" rtl="0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ptos"/>
              <a:buChar char="●"/>
            </a:pPr>
            <a:r>
              <a:rPr lang="hu" sz="2300" dirty="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Kölcsönzés és visszahozás feldolgozás</a:t>
            </a:r>
            <a:endParaRPr sz="2300" dirty="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74650" algn="l" rtl="0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ptos"/>
              <a:buChar char="●"/>
            </a:pPr>
            <a:r>
              <a:rPr lang="hu" sz="2300" dirty="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Automatikus büntetésszámítás késedelmes könyvekhez</a:t>
            </a:r>
            <a:endParaRPr sz="2300" dirty="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74650" algn="l" rtl="0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ptos"/>
              <a:buChar char="●"/>
            </a:pPr>
            <a:r>
              <a:rPr lang="hu" sz="2300" dirty="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Statisztikák és jelentések</a:t>
            </a:r>
            <a:endParaRPr sz="2300" dirty="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  <a:p>
            <a:pPr marL="457200" lvl="0" indent="-374650" algn="l" rtl="0">
              <a:lnSpc>
                <a:spcPct val="115833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2300"/>
              <a:buFont typeface="Aptos"/>
              <a:buChar char="●"/>
            </a:pPr>
            <a:r>
              <a:rPr lang="hu" sz="2300" dirty="0">
                <a:solidFill>
                  <a:schemeClr val="dk1"/>
                </a:solidFill>
                <a:latin typeface="Aptos"/>
                <a:ea typeface="Aptos"/>
                <a:cs typeface="Aptos"/>
                <a:sym typeface="Aptos"/>
              </a:rPr>
              <a:t>Terminál Felhasználói Felület (TUI) ANSI színkódokkal</a:t>
            </a:r>
            <a:endParaRPr sz="2300" dirty="0">
              <a:solidFill>
                <a:schemeClr val="dk1"/>
              </a:solidFill>
              <a:latin typeface="Aptos"/>
              <a:ea typeface="Aptos"/>
              <a:cs typeface="Aptos"/>
              <a:sym typeface="Apto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1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hu" sz="3500"/>
              <a:t>Tesztelt program követelményei</a:t>
            </a:r>
            <a:endParaRPr sz="3500"/>
          </a:p>
        </p:txBody>
      </p:sp>
      <p:sp>
        <p:nvSpPr>
          <p:cNvPr id="171" name="Google Shape;171;p31"/>
          <p:cNvSpPr txBox="1">
            <a:spLocks noGrp="1"/>
          </p:cNvSpPr>
          <p:nvPr>
            <p:ph type="body" idx="1"/>
          </p:nvPr>
        </p:nvSpPr>
        <p:spPr>
          <a:xfrm>
            <a:off x="4635050" y="260125"/>
            <a:ext cx="4166400" cy="459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aktuális leltár szűrése</a:t>
            </a: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könyvek kölcsönzése, visszahozatala, büntetések megtekintése</a:t>
            </a: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könyvek keresése</a:t>
            </a: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aktív büntetések megtekintése</a:t>
            </a: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statisztikák megjelenítése</a:t>
            </a: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bemenet ellenőrzés</a:t>
            </a: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3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2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Használt tesztelési módszertanok</a:t>
            </a:r>
            <a:endParaRPr sz="3500"/>
          </a:p>
        </p:txBody>
      </p:sp>
      <p:sp>
        <p:nvSpPr>
          <p:cNvPr id="177" name="Google Shape;177;p32"/>
          <p:cNvSpPr txBox="1">
            <a:spLocks noGrp="1"/>
          </p:cNvSpPr>
          <p:nvPr>
            <p:ph type="body" idx="1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Funkcionális tesztelés:</a:t>
            </a:r>
            <a:endParaRPr sz="23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115833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hu" sz="1800">
                <a:solidFill>
                  <a:schemeClr val="dk1"/>
                </a:solidFill>
              </a:rPr>
              <a:t>a menürendszer működésének ellenőrzése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hu" sz="1800">
                <a:solidFill>
                  <a:schemeClr val="dk1"/>
                </a:solidFill>
              </a:rPr>
              <a:t>a funkciók helyes működésének vizsgálata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115833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800"/>
              <a:buChar char="○"/>
            </a:pPr>
            <a:r>
              <a:rPr lang="hu" sz="1800">
                <a:solidFill>
                  <a:schemeClr val="dk1"/>
                </a:solidFill>
              </a:rPr>
              <a:t>adatbevitel és adatfeldolgozás validációja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3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Bemenet ellenőrzések</a:t>
            </a:r>
            <a:endParaRPr sz="3500"/>
          </a:p>
        </p:txBody>
      </p:sp>
      <p:sp>
        <p:nvSpPr>
          <p:cNvPr id="183" name="Google Shape;183;p33"/>
          <p:cNvSpPr txBox="1">
            <a:spLocks noGrp="1"/>
          </p:cNvSpPr>
          <p:nvPr>
            <p:ph type="body" idx="1"/>
          </p:nvPr>
        </p:nvSpPr>
        <p:spPr>
          <a:xfrm>
            <a:off x="4740975" y="500925"/>
            <a:ext cx="3775500" cy="439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74650" algn="l" rtl="0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Negatív tesztelés:</a:t>
            </a:r>
            <a:endParaRPr sz="23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115833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hu" sz="1800">
                <a:solidFill>
                  <a:schemeClr val="dk1"/>
                </a:solidFill>
              </a:rPr>
              <a:t>hibás bemenetek kezelése (szöveg megadása szám helyett)</a:t>
            </a:r>
            <a:endParaRPr sz="1800">
              <a:solidFill>
                <a:schemeClr val="dk1"/>
              </a:solidFill>
            </a:endParaRPr>
          </a:p>
          <a:p>
            <a:pPr marL="914400" lvl="1" indent="-342900" algn="l" rtl="0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hu" sz="1800">
                <a:solidFill>
                  <a:schemeClr val="dk1"/>
                </a:solidFill>
              </a:rPr>
              <a:t>határértékeken kívüli adatok kezelése</a:t>
            </a:r>
            <a:endParaRPr sz="18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könyv ID formátum: SF-001 stb.</a:t>
            </a: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lnSpc>
                <a:spcPct val="11583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Tag ID: 000001–999999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8125" y="695325"/>
            <a:ext cx="8667750" cy="375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00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5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Tesztpiramis</a:t>
            </a:r>
            <a:endParaRPr sz="3500"/>
          </a:p>
        </p:txBody>
      </p:sp>
      <p:sp>
        <p:nvSpPr>
          <p:cNvPr id="194" name="Google Shape;194;p35"/>
          <p:cNvSpPr txBox="1">
            <a:spLocks noGrp="1"/>
          </p:cNvSpPr>
          <p:nvPr>
            <p:ph type="body" idx="1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az integrációs tesztelés manuálisan történt</a:t>
            </a: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funkcionális és rendszer szintű tesztelés</a:t>
            </a: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fókusz a rendszeren és a funkción volt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7763" y="476590"/>
            <a:ext cx="5308475" cy="419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7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Statikus tesztelés</a:t>
            </a:r>
            <a:endParaRPr sz="3500"/>
          </a:p>
        </p:txBody>
      </p:sp>
      <p:sp>
        <p:nvSpPr>
          <p:cNvPr id="205" name="Google Shape;205;p37"/>
          <p:cNvSpPr txBox="1">
            <a:spLocks noGrp="1"/>
          </p:cNvSpPr>
          <p:nvPr>
            <p:ph type="body" idx="1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forráskód manuális felülvizsgálata</a:t>
            </a: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logikai hibák, inkonzisztenciák és állapotkezelési problémák feltárása</a:t>
            </a: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azonosított hibák később dinamikusan tesztelve lettek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8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Specifikációs  tesztelés</a:t>
            </a:r>
            <a:endParaRPr sz="3500"/>
          </a:p>
        </p:txBody>
      </p:sp>
      <p:sp>
        <p:nvSpPr>
          <p:cNvPr id="211" name="Google Shape;211;p38"/>
          <p:cNvSpPr txBox="1">
            <a:spLocks noGrp="1"/>
          </p:cNvSpPr>
          <p:nvPr>
            <p:ph type="body" idx="1"/>
          </p:nvPr>
        </p:nvSpPr>
        <p:spPr>
          <a:xfrm>
            <a:off x="4654300" y="356425"/>
            <a:ext cx="4166400" cy="4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tesztesetek megtervezése specifikáció alapján történtek</a:t>
            </a: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hasonló bemenetek csoportosítása (hasonló működés várható) </a:t>
            </a: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határértékek azonosítása (megengedett tartomány határ vagy közvetlen mellette)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9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TUI tesztelés</a:t>
            </a:r>
            <a:endParaRPr sz="3500"/>
          </a:p>
        </p:txBody>
      </p:sp>
      <p:sp>
        <p:nvSpPr>
          <p:cNvPr id="217" name="Google Shape;217;p39"/>
          <p:cNvSpPr txBox="1">
            <a:spLocks noGrp="1"/>
          </p:cNvSpPr>
          <p:nvPr>
            <p:ph type="body" idx="1"/>
          </p:nvPr>
        </p:nvSpPr>
        <p:spPr>
          <a:xfrm>
            <a:off x="4808425" y="500925"/>
            <a:ext cx="4055100" cy="439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menürendszer megjelenésének ellenőrzése</a:t>
            </a: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felhasználói visszajelzések egyértelműsége</a:t>
            </a: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hibajelzések olvashatósága és következetessége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7688" y="538275"/>
            <a:ext cx="5048625" cy="4066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00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725" y="200575"/>
            <a:ext cx="272415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8725" y="2908350"/>
            <a:ext cx="7343775" cy="2190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8725" y="954375"/>
            <a:ext cx="4457700" cy="180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5600" y="56075"/>
            <a:ext cx="3226875" cy="5031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7500" y="152400"/>
            <a:ext cx="4802791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3"/>
          <p:cNvSpPr txBox="1">
            <a:spLocks noGrp="1"/>
          </p:cNvSpPr>
          <p:nvPr>
            <p:ph type="title"/>
          </p:nvPr>
        </p:nvSpPr>
        <p:spPr>
          <a:xfrm>
            <a:off x="420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Tesztesetek és jegyzőkönyv</a:t>
            </a:r>
            <a:endParaRPr sz="3500"/>
          </a:p>
        </p:txBody>
      </p:sp>
      <p:sp>
        <p:nvSpPr>
          <p:cNvPr id="241" name="Google Shape;241;p43"/>
          <p:cNvSpPr txBox="1">
            <a:spLocks noGrp="1"/>
          </p:cNvSpPr>
          <p:nvPr>
            <p:ph type="body" idx="1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46 végrehajtott teszteset</a:t>
            </a: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100%-os tesztelési arány</a:t>
            </a: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korábban azonosított hibák a fejlesztés során javításra kerültek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/>
                                        <p:tgtEl>
                                          <p:spTgt spid="2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4"/>
          <p:cNvSpPr txBox="1">
            <a:spLocks noGrp="1"/>
          </p:cNvSpPr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3500"/>
              <a:t>Hibakezelés folyamata</a:t>
            </a:r>
            <a:endParaRPr sz="3500"/>
          </a:p>
        </p:txBody>
      </p:sp>
      <p:sp>
        <p:nvSpPr>
          <p:cNvPr id="247" name="Google Shape;247;p44"/>
          <p:cNvSpPr txBox="1">
            <a:spLocks noGrp="1"/>
          </p:cNvSpPr>
          <p:nvPr>
            <p:ph type="body" idx="1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74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hiba észlelés</a:t>
            </a: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jelzés a fejlesztőknek</a:t>
            </a: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javítás kérése</a:t>
            </a: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újratesztelés</a:t>
            </a:r>
            <a:endParaRPr sz="2300">
              <a:solidFill>
                <a:schemeClr val="dk1"/>
              </a:solidFill>
            </a:endParaRPr>
          </a:p>
          <a:p>
            <a:pPr marL="457200" lvl="0" indent="-37465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300"/>
              <a:buChar char="●"/>
            </a:pPr>
            <a:r>
              <a:rPr lang="hu" sz="2300">
                <a:solidFill>
                  <a:schemeClr val="dk1"/>
                </a:solidFill>
              </a:rPr>
              <a:t>lezárás</a:t>
            </a:r>
            <a:endParaRPr sz="23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5"/>
          <p:cNvSpPr txBox="1">
            <a:spLocks noGrp="1"/>
          </p:cNvSpPr>
          <p:nvPr>
            <p:ph type="title"/>
          </p:nvPr>
        </p:nvSpPr>
        <p:spPr>
          <a:xfrm>
            <a:off x="854850" y="1330200"/>
            <a:ext cx="7434300" cy="248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hu" sz="8000"/>
              <a:t>Köszönjük a figyelmet!</a:t>
            </a:r>
            <a:endParaRPr sz="8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519</Words>
  <Application>Microsoft Office PowerPoint</Application>
  <PresentationFormat>Diavetítés a képernyőre (16:9 oldalarány)</PresentationFormat>
  <Paragraphs>138</Paragraphs>
  <Slides>33</Slides>
  <Notes>33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33</vt:i4>
      </vt:variant>
    </vt:vector>
  </HeadingPairs>
  <TitlesOfParts>
    <vt:vector size="38" baseType="lpstr">
      <vt:lpstr>Arial</vt:lpstr>
      <vt:lpstr>Merriweather</vt:lpstr>
      <vt:lpstr>Aptos</vt:lpstr>
      <vt:lpstr>Roboto</vt:lpstr>
      <vt:lpstr>Paradigm</vt:lpstr>
      <vt:lpstr>Szoftvertesztelés projektfeladat</vt:lpstr>
      <vt:lpstr>Csapatok bemutatása</vt:lpstr>
      <vt:lpstr>Feladatunk</vt:lpstr>
      <vt:lpstr>Célunk</vt:lpstr>
      <vt:lpstr>Fejlesztett programunk: Bérleti szerződés manager</vt:lpstr>
      <vt:lpstr>Fejlesztés feladatai</vt:lpstr>
      <vt:lpstr>Program céljai</vt:lpstr>
      <vt:lpstr>Program funkciói</vt:lpstr>
      <vt:lpstr>Fejlesztés folyamata</vt:lpstr>
      <vt:lpstr>Program felépítése</vt:lpstr>
      <vt:lpstr>Program működése</vt:lpstr>
      <vt:lpstr>PowerPoint-bemutató</vt:lpstr>
      <vt:lpstr>PowerPoint-bemutató</vt:lpstr>
      <vt:lpstr>Fejlesztői dokumentáció</vt:lpstr>
      <vt:lpstr>Felhasználói útmutató</vt:lpstr>
      <vt:lpstr>Tesztelt programunk: Könyvtári kölcsönző rendszer </vt:lpstr>
      <vt:lpstr>Tesztelés feladatai</vt:lpstr>
      <vt:lpstr>Tesztelt program feladatai</vt:lpstr>
      <vt:lpstr>Tesztelt program követelményei</vt:lpstr>
      <vt:lpstr>Használt tesztelési módszertanok</vt:lpstr>
      <vt:lpstr>Bemenet ellenőrzések</vt:lpstr>
      <vt:lpstr>PowerPoint-bemutató</vt:lpstr>
      <vt:lpstr>Tesztpiramis</vt:lpstr>
      <vt:lpstr>PowerPoint-bemutató</vt:lpstr>
      <vt:lpstr>Statikus tesztelés</vt:lpstr>
      <vt:lpstr>Specifikációs  tesztelés</vt:lpstr>
      <vt:lpstr>TUI tesztelés</vt:lpstr>
      <vt:lpstr>PowerPoint-bemutató</vt:lpstr>
      <vt:lpstr>PowerPoint-bemutató</vt:lpstr>
      <vt:lpstr>PowerPoint-bemutató</vt:lpstr>
      <vt:lpstr>Tesztesetek és jegyzőkönyv</vt:lpstr>
      <vt:lpstr>Hibakezelés folyamata</vt:lpstr>
      <vt:lpstr>Köszönjük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Szoftvertesztelés projektfeladat</dc:title>
  <dc:creator>Bogdán Letti</dc:creator>
  <cp:lastModifiedBy>Bogdán Letti</cp:lastModifiedBy>
  <cp:revision>1</cp:revision>
  <dcterms:modified xsi:type="dcterms:W3CDTF">2026-01-15T07:37:39Z</dcterms:modified>
</cp:coreProperties>
</file>