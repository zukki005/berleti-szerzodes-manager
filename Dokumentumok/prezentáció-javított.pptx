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5143500" cx="9144000"/>
  <p:notesSz cx="6858000" cy="9144000"/>
  <p:embeddedFontLst>
    <p:embeddedFont>
      <p:font typeface="Roboto"/>
      <p:regular r:id="rId32"/>
      <p:bold r:id="rId33"/>
      <p:italic r:id="rId34"/>
      <p:boldItalic r:id="rId35"/>
    </p:embeddedFont>
    <p:embeddedFont>
      <p:font typeface="Merriweather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Roboto-bold.fntdata"/><Relationship Id="rId10" Type="http://schemas.openxmlformats.org/officeDocument/2006/relationships/slide" Target="slides/slide5.xml"/><Relationship Id="rId32" Type="http://schemas.openxmlformats.org/officeDocument/2006/relationships/font" Target="fonts/Roboto-regular.fntdata"/><Relationship Id="rId13" Type="http://schemas.openxmlformats.org/officeDocument/2006/relationships/slide" Target="slides/slide8.xml"/><Relationship Id="rId35" Type="http://schemas.openxmlformats.org/officeDocument/2006/relationships/font" Target="fonts/Roboto-boldItalic.fntdata"/><Relationship Id="rId12" Type="http://schemas.openxmlformats.org/officeDocument/2006/relationships/slide" Target="slides/slide7.xml"/><Relationship Id="rId34" Type="http://schemas.openxmlformats.org/officeDocument/2006/relationships/font" Target="fonts/Roboto-italic.fntdata"/><Relationship Id="rId15" Type="http://schemas.openxmlformats.org/officeDocument/2006/relationships/slide" Target="slides/slide10.xml"/><Relationship Id="rId37" Type="http://schemas.openxmlformats.org/officeDocument/2006/relationships/font" Target="fonts/Merriweather-bold.fntdata"/><Relationship Id="rId14" Type="http://schemas.openxmlformats.org/officeDocument/2006/relationships/slide" Target="slides/slide9.xml"/><Relationship Id="rId36" Type="http://schemas.openxmlformats.org/officeDocument/2006/relationships/font" Target="fonts/Merriweather-regular.fntdata"/><Relationship Id="rId17" Type="http://schemas.openxmlformats.org/officeDocument/2006/relationships/slide" Target="slides/slide12.xml"/><Relationship Id="rId39" Type="http://schemas.openxmlformats.org/officeDocument/2006/relationships/font" Target="fonts/Merriweather-boldItalic.fntdata"/><Relationship Id="rId16" Type="http://schemas.openxmlformats.org/officeDocument/2006/relationships/slide" Target="slides/slide11.xml"/><Relationship Id="rId38" Type="http://schemas.openxmlformats.org/officeDocument/2006/relationships/font" Target="fonts/Merriweather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b5db603d42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b5db603d42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b5db603d42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b5db603d4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b5db603d42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b5db603d42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5db603d42_1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b5db603d42_1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5db603d42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b5db603d42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5db603d42_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5db603d42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5db603d42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b5db603d42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5db603d42_1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b5db603d42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5db603d42_1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b5db603d42_1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5db603d42_1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b5db603d42_1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5db603d42_1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b5db603d42_1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5db603d42_1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b5db603d42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b5db603d42_1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b5db603d42_1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5db603d42_1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b5db603d42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5db603d42_1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b5db603d42_1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b5db603d42_1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b5db603d42_1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b5db603d42_1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b5db603d42_1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b5db603d42_1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b5db603d42_1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b5db603d42_1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b5db603d42_1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b5db603d42_1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b5db603d42_1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b5db603d42_1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b5db603d42_1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b5db603d42_1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b5db603d42_1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b5db603d42_1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b5db603d42_1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b5db603d42_1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b5db603d42_1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b5db603d42_1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b5db603d42_1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311700" y="52047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4700"/>
              <a:t>Szoftvertesztelés projektfeladat</a:t>
            </a:r>
            <a:endParaRPr sz="4700"/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5118075" y="4103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>
                <a:solidFill>
                  <a:schemeClr val="lt1"/>
                </a:solidFill>
              </a:rPr>
              <a:t>Csapat tagjai: Bauer Bálint, Járfás Erik, 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>
                <a:solidFill>
                  <a:schemeClr val="lt1"/>
                </a:solidFill>
              </a:rPr>
              <a:t>Horváth Márk, Bogdán Letti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Csapatok bemutatása</a:t>
            </a:r>
            <a:endParaRPr sz="3500"/>
          </a:p>
        </p:txBody>
      </p:sp>
      <p:sp>
        <p:nvSpPr>
          <p:cNvPr id="71" name="Google Shape;71;p1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hu" sz="2000">
                <a:solidFill>
                  <a:schemeClr val="dk1"/>
                </a:solidFill>
              </a:rPr>
              <a:t>Bérleti szerződés manager szoftver csapata:</a:t>
            </a:r>
            <a:endParaRPr sz="20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</a:pPr>
            <a:r>
              <a:rPr lang="hu" sz="1500">
                <a:solidFill>
                  <a:schemeClr val="dk1"/>
                </a:solidFill>
              </a:rPr>
              <a:t>Bauer Bálint: Tesztvezető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</a:pPr>
            <a:r>
              <a:rPr lang="hu" sz="1500">
                <a:solidFill>
                  <a:schemeClr val="dk1"/>
                </a:solidFill>
              </a:rPr>
              <a:t>Járfás Erik: Kézi Tesztelő, Hibarögzítő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</a:pPr>
            <a:r>
              <a:rPr lang="hu" sz="1500">
                <a:solidFill>
                  <a:schemeClr val="dk1"/>
                </a:solidFill>
              </a:rPr>
              <a:t>Horváth Márk: Teszt Tervező 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</a:pPr>
            <a:r>
              <a:rPr lang="hu" sz="1500">
                <a:solidFill>
                  <a:schemeClr val="dk1"/>
                </a:solidFill>
              </a:rPr>
              <a:t>Bogdán Letti: Tesztelő</a:t>
            </a:r>
            <a:endParaRPr sz="15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hu" sz="2000">
                <a:solidFill>
                  <a:schemeClr val="dk1"/>
                </a:solidFill>
              </a:rPr>
              <a:t>Könyvtári kölcsönző rendszer szoftver csapata:</a:t>
            </a:r>
            <a:endParaRPr sz="20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</a:pPr>
            <a:r>
              <a:rPr lang="hu" sz="1500">
                <a:solidFill>
                  <a:schemeClr val="dk1"/>
                </a:solidFill>
              </a:rPr>
              <a:t>Káldor Levente: Projektvezető 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</a:pPr>
            <a:r>
              <a:rPr lang="hu" sz="1500">
                <a:solidFill>
                  <a:schemeClr val="dk1"/>
                </a:solidFill>
              </a:rPr>
              <a:t>Lőrincz Márton: Projekt Tesztelési Vezető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</a:pPr>
            <a:r>
              <a:rPr lang="hu" sz="1500">
                <a:solidFill>
                  <a:schemeClr val="dk1"/>
                </a:solidFill>
              </a:rPr>
              <a:t>Csikós</a:t>
            </a:r>
            <a:r>
              <a:rPr lang="hu" sz="1500">
                <a:solidFill>
                  <a:schemeClr val="dk1"/>
                </a:solidFill>
              </a:rPr>
              <a:t> Bendegúz: Tesztelési Koordinátor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</a:pPr>
            <a:r>
              <a:rPr lang="hu" sz="1500">
                <a:solidFill>
                  <a:schemeClr val="dk1"/>
                </a:solidFill>
              </a:rPr>
              <a:t>Juhász Arnold: Rendszer- Specifikáció- és Ütemterv Tervező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Feladatunk</a:t>
            </a:r>
            <a:endParaRPr sz="3500"/>
          </a:p>
        </p:txBody>
      </p:sp>
      <p:sp>
        <p:nvSpPr>
          <p:cNvPr id="77" name="Google Shape;77;p15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egy Java konzolos szoftver fejlesztése, illetve tesztelése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általunk választott csapat szoftverének a tesztelése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folyamatok dokumentálása, jegyzőkönyv készítése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Célunk</a:t>
            </a:r>
            <a:endParaRPr sz="3500"/>
          </a:p>
        </p:txBody>
      </p:sp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Szoftvertesztelés és fejlesztés folyamatának bemutatása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működőképes konzolos alkalmazás fejlesztése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konzolos alkalmazás </a:t>
            </a:r>
            <a:r>
              <a:rPr lang="hu" sz="2300">
                <a:solidFill>
                  <a:schemeClr val="dk1"/>
                </a:solidFill>
              </a:rPr>
              <a:t>teljes körű, részletes</a:t>
            </a:r>
            <a:r>
              <a:rPr lang="hu" sz="2300">
                <a:solidFill>
                  <a:schemeClr val="dk1"/>
                </a:solidFill>
              </a:rPr>
              <a:t> tesztelése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50" y="1834950"/>
            <a:ext cx="73476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4000"/>
              <a:t>Fejlesztett programunk:</a:t>
            </a:r>
            <a:endParaRPr sz="4000"/>
          </a:p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lang="hu" sz="4000"/>
              <a:t>Bérleti szerződés manager</a:t>
            </a:r>
            <a:endParaRPr sz="4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Fejlesztés feladatai</a:t>
            </a:r>
            <a:endParaRPr sz="3500"/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specifikáció bővítése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szoftver megtervezése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felhasználói útmutató készítése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fejlesztés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fejlesztői dokumentáció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tesztelési jegyzőkönyv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Program céljai</a:t>
            </a:r>
            <a:endParaRPr sz="3500"/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ingatlanbérleti szerződések teljes életciklusának kezelése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l</a:t>
            </a:r>
            <a:r>
              <a:rPr lang="hu" sz="2300">
                <a:solidFill>
                  <a:schemeClr val="dk1"/>
                </a:solidFill>
              </a:rPr>
              <a:t>étrehozás, módosítás, törlés, lejárat figyelés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d</a:t>
            </a:r>
            <a:r>
              <a:rPr lang="hu" sz="2300">
                <a:solidFill>
                  <a:schemeClr val="dk1"/>
                </a:solidFill>
              </a:rPr>
              <a:t>igitális, biztonságos nyilvántartás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Program funkciói</a:t>
            </a:r>
            <a:endParaRPr sz="3500"/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4654300" y="327550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szerződések teljes életciklusának kezelése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szerződések listázása, új szerződés hozzáadása, törlés, keresés, legolcsóbb bérleti díj lekérdezése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h</a:t>
            </a:r>
            <a:r>
              <a:rPr lang="hu" sz="2300">
                <a:solidFill>
                  <a:schemeClr val="dk1"/>
                </a:solidFill>
              </a:rPr>
              <a:t>ibás rögzítés megakadályozása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adatok fájlba mentése és betöltése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Fejlesztés folyamata</a:t>
            </a:r>
            <a:endParaRPr sz="3500"/>
          </a:p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4496000" y="161850"/>
            <a:ext cx="4647900" cy="48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követelmények meghatározása 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p</a:t>
            </a:r>
            <a:r>
              <a:rPr lang="hu" sz="2300">
                <a:solidFill>
                  <a:schemeClr val="dk1"/>
                </a:solidFill>
              </a:rPr>
              <a:t>rogram szerkezetének megtervezése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o</a:t>
            </a:r>
            <a:r>
              <a:rPr lang="hu" sz="2300">
                <a:solidFill>
                  <a:schemeClr val="dk1"/>
                </a:solidFill>
              </a:rPr>
              <a:t>sztályok és interfészek létrehozása 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f</a:t>
            </a:r>
            <a:r>
              <a:rPr lang="hu" sz="2300">
                <a:solidFill>
                  <a:schemeClr val="dk1"/>
                </a:solidFill>
              </a:rPr>
              <a:t>unkciók implementálása 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h</a:t>
            </a:r>
            <a:r>
              <a:rPr lang="hu" sz="2300">
                <a:solidFill>
                  <a:schemeClr val="dk1"/>
                </a:solidFill>
              </a:rPr>
              <a:t>ibakezelés és adatellenőrzés 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tesztelés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dokumentálás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Program</a:t>
            </a:r>
            <a:endParaRPr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felépítése</a:t>
            </a:r>
            <a:endParaRPr sz="3500"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a program főbb osztályai és interfészei:</a:t>
            </a:r>
            <a:endParaRPr sz="23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hu" sz="1800">
                <a:solidFill>
                  <a:schemeClr val="dk1"/>
                </a:solidFill>
              </a:rPr>
              <a:t>Main - program indítása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hu" sz="1800">
                <a:solidFill>
                  <a:schemeClr val="dk1"/>
                </a:solidFill>
              </a:rPr>
              <a:t>Szerzodes - szerződés adatai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hu" sz="1800">
                <a:solidFill>
                  <a:schemeClr val="dk1"/>
                </a:solidFill>
              </a:rPr>
              <a:t>Berlo - bérlő adatai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hu" sz="1800">
                <a:solidFill>
                  <a:schemeClr val="dk1"/>
                </a:solidFill>
              </a:rPr>
              <a:t>BerbeAdo - bérbeadó adatai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hu" sz="1800">
                <a:solidFill>
                  <a:schemeClr val="dk1"/>
                </a:solidFill>
              </a:rPr>
              <a:t>iEv, iHonap, iNap - </a:t>
            </a:r>
            <a:r>
              <a:rPr lang="hu" sz="1800">
                <a:solidFill>
                  <a:schemeClr val="dk1"/>
                </a:solidFill>
              </a:rPr>
              <a:t>dátum ellenőrző</a:t>
            </a:r>
            <a:r>
              <a:rPr lang="hu" sz="1800">
                <a:solidFill>
                  <a:schemeClr val="dk1"/>
                </a:solidFill>
              </a:rPr>
              <a:t> interfészek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Char char="○"/>
            </a:pPr>
            <a:r>
              <a:rPr lang="hu" sz="1800">
                <a:solidFill>
                  <a:schemeClr val="dk1"/>
                </a:solidFill>
              </a:rPr>
              <a:t>Segédmetódusok - adatbekérés, fájlkezelés, keresés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Program működése</a:t>
            </a:r>
            <a:endParaRPr sz="3500"/>
          </a:p>
        </p:txBody>
      </p:sp>
      <p:sp>
        <p:nvSpPr>
          <p:cNvPr id="124" name="Google Shape;124;p23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program indítása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szerződések betöltése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főmenü megjelenítése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művelet kiválasztása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adatok ellenőrzött bekérése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eredmény megjelenítése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kilépés vagy új művelet választása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Fejlesztői dokumentáció</a:t>
            </a:r>
            <a:endParaRPr sz="3500"/>
          </a:p>
        </p:txBody>
      </p:sp>
      <p:sp>
        <p:nvSpPr>
          <p:cNvPr id="130" name="Google Shape;130;p24"/>
          <p:cNvSpPr txBox="1"/>
          <p:nvPr>
            <p:ph idx="1" type="body"/>
          </p:nvPr>
        </p:nvSpPr>
        <p:spPr>
          <a:xfrm>
            <a:off x="4650100" y="238900"/>
            <a:ext cx="4386600" cy="48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Objektumorientált felépítés 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Moduláris szerkezet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Adatellenőrzés regex és feltételek segítségével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Hibakezelés try-catch blokkokkal 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Felhasználói útmutató</a:t>
            </a:r>
            <a:endParaRPr sz="3500"/>
          </a:p>
        </p:txBody>
      </p:sp>
      <p:sp>
        <p:nvSpPr>
          <p:cNvPr id="136" name="Google Shape;136;p25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konzolos menü megjelenése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menüpont kiválasztása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adatok ellenőrzött bekérése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kimenet megjelenítése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/>
          <p:nvPr>
            <p:ph type="title"/>
          </p:nvPr>
        </p:nvSpPr>
        <p:spPr>
          <a:xfrm>
            <a:off x="185450" y="1589250"/>
            <a:ext cx="8445600" cy="196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4000"/>
              <a:t>Tesztelt programunk:</a:t>
            </a:r>
            <a:endParaRPr sz="4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hu" sz="4000"/>
              <a:t>Könyvtári kölcsönző rendszer</a:t>
            </a:r>
            <a:endParaRPr sz="4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Tesztelés feladatai</a:t>
            </a:r>
            <a:endParaRPr sz="3500"/>
          </a:p>
        </p:txBody>
      </p:sp>
      <p:sp>
        <p:nvSpPr>
          <p:cNvPr id="147" name="Google Shape;147;p27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Specifikáció, GUI tesztelése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tesztelési terv készítése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tesztelési alapelvek, tesztpiramis szintjeinek ismertetése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statikus tesztelési technikák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hibák jelzése, újratesztelése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Tesztelt szoftver feladatai</a:t>
            </a:r>
            <a:endParaRPr/>
          </a:p>
        </p:txBody>
      </p:sp>
      <p:sp>
        <p:nvSpPr>
          <p:cNvPr id="153" name="Google Shape;153;p28"/>
          <p:cNvSpPr txBox="1"/>
          <p:nvPr>
            <p:ph idx="1" type="body"/>
          </p:nvPr>
        </p:nvSpPr>
        <p:spPr>
          <a:xfrm>
            <a:off x="4423100" y="375000"/>
            <a:ext cx="4787100" cy="43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Könyvleltár kezelés 5 kategóriában</a:t>
            </a:r>
            <a:endParaRPr sz="230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  <a:p>
            <a:pPr indent="-374650" lvl="0" marL="4572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ptos"/>
              <a:buChar char="●"/>
            </a:pPr>
            <a:r>
              <a:rPr lang="hu" sz="23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Tag regisztráció és kezelés</a:t>
            </a:r>
            <a:endParaRPr sz="230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  <a:p>
            <a:pPr indent="-374650" lvl="0" marL="4572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ptos"/>
              <a:buChar char="●"/>
            </a:pPr>
            <a:r>
              <a:rPr lang="hu" sz="23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Kölcsönzés és visszahozás feldolgozás</a:t>
            </a:r>
            <a:endParaRPr sz="230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  <a:p>
            <a:pPr indent="-374650" lvl="0" marL="4572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ptos"/>
              <a:buChar char="●"/>
            </a:pPr>
            <a:r>
              <a:rPr lang="hu" sz="23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Automatikus büntetésszámítás késedelmes könyvekhez</a:t>
            </a:r>
            <a:endParaRPr sz="230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  <a:p>
            <a:pPr indent="-374650" lvl="0" marL="4572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ptos"/>
              <a:buChar char="●"/>
            </a:pPr>
            <a:r>
              <a:rPr lang="hu" sz="23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Statisztikák és jelentések</a:t>
            </a:r>
            <a:endParaRPr sz="230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  <a:p>
            <a:pPr indent="-374650" lvl="0" marL="457200" rtl="0" algn="l">
              <a:lnSpc>
                <a:spcPct val="115833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2300"/>
              <a:buFont typeface="Aptos"/>
              <a:buChar char="●"/>
            </a:pPr>
            <a:r>
              <a:rPr lang="hu" sz="23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Terminál Felhasználói Felület (TUI) ANSI színkódokkal</a:t>
            </a:r>
            <a:endParaRPr sz="230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9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hu" sz="3500"/>
              <a:t>Tesztelt szoftver követelményei</a:t>
            </a:r>
            <a:endParaRPr sz="3500"/>
          </a:p>
        </p:txBody>
      </p:sp>
      <p:sp>
        <p:nvSpPr>
          <p:cNvPr id="159" name="Google Shape;159;p29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aktuális leltárát kategóriák szerint szűrve.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a felhasználók kölcsönözhetnek egy könyvet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könyvek visszahozatala, büntetések megtekintése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könyvek keresése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aktív</a:t>
            </a:r>
            <a:r>
              <a:rPr lang="hu" sz="2300">
                <a:solidFill>
                  <a:schemeClr val="dk1"/>
                </a:solidFill>
              </a:rPr>
              <a:t> büntetések megtekintése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statisztikák megjelenítése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bemenet Ellenőrzés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0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Használt tesztelési módszertanok</a:t>
            </a:r>
            <a:endParaRPr sz="3500"/>
          </a:p>
        </p:txBody>
      </p:sp>
      <p:sp>
        <p:nvSpPr>
          <p:cNvPr id="165" name="Google Shape;165;p30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Funkcionális tesztelés:</a:t>
            </a:r>
            <a:endParaRPr sz="23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8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hu" sz="1800">
                <a:solidFill>
                  <a:schemeClr val="dk1"/>
                </a:solidFill>
              </a:rPr>
              <a:t>a menürendszer működésének ellenőrzése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hu" sz="1800">
                <a:solidFill>
                  <a:schemeClr val="dk1"/>
                </a:solidFill>
              </a:rPr>
              <a:t>a funkciók helyes működésének vizsgálata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833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800"/>
              <a:buChar char="○"/>
            </a:pPr>
            <a:r>
              <a:rPr lang="hu" sz="1800">
                <a:solidFill>
                  <a:schemeClr val="dk1"/>
                </a:solidFill>
              </a:rPr>
              <a:t>adatbevitel és adatfeldolgozás validációja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1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Bemenet ellenőrzések</a:t>
            </a:r>
            <a:endParaRPr sz="3500"/>
          </a:p>
        </p:txBody>
      </p:sp>
      <p:sp>
        <p:nvSpPr>
          <p:cNvPr id="171" name="Google Shape;171;p31"/>
          <p:cNvSpPr txBox="1"/>
          <p:nvPr>
            <p:ph idx="1" type="body"/>
          </p:nvPr>
        </p:nvSpPr>
        <p:spPr>
          <a:xfrm>
            <a:off x="4740975" y="500925"/>
            <a:ext cx="3775500" cy="43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Negatív tesztelés:</a:t>
            </a:r>
            <a:endParaRPr sz="23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833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hu" sz="1800">
                <a:solidFill>
                  <a:schemeClr val="dk1"/>
                </a:solidFill>
              </a:rPr>
              <a:t>hibás bemenetek kezelése (szöveg megadása szám helyett)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hu" sz="1800">
                <a:solidFill>
                  <a:schemeClr val="dk1"/>
                </a:solidFill>
              </a:rPr>
              <a:t>határértékeken kívüli adatok kezelése</a:t>
            </a:r>
            <a:endParaRPr sz="1800">
              <a:solidFill>
                <a:schemeClr val="dk1"/>
              </a:solidFill>
            </a:endParaRPr>
          </a:p>
          <a:p>
            <a:pPr indent="-374650" lvl="0" marL="4572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könyv ID formátum: SF-001 stb.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Tag ID: 000001–999999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2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Tesztpiramis</a:t>
            </a:r>
            <a:endParaRPr sz="3500"/>
          </a:p>
        </p:txBody>
      </p:sp>
      <p:sp>
        <p:nvSpPr>
          <p:cNvPr id="177" name="Google Shape;177;p32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az integrációs tesztelés manuálisan történt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funkcionális és rendszer szintű tesztelés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fókusz</a:t>
            </a:r>
            <a:r>
              <a:rPr lang="hu" sz="2300">
                <a:solidFill>
                  <a:schemeClr val="dk1"/>
                </a:solidFill>
              </a:rPr>
              <a:t> a rendszeren és a funkción volt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3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Statikus tesztelés</a:t>
            </a:r>
            <a:endParaRPr sz="3500"/>
          </a:p>
        </p:txBody>
      </p:sp>
      <p:sp>
        <p:nvSpPr>
          <p:cNvPr id="183" name="Google Shape;183;p33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forráskód manuális felülvizsgálata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logikai hibák, inkonzisztenciák és állapotkezelési problémák feltárása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azonosított hibák később dinamikusan tesztelve lettek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Specifikációs </a:t>
            </a:r>
            <a:r>
              <a:rPr lang="hu" sz="3500"/>
              <a:t> tesztelés</a:t>
            </a:r>
            <a:endParaRPr sz="3500"/>
          </a:p>
        </p:txBody>
      </p:sp>
      <p:sp>
        <p:nvSpPr>
          <p:cNvPr id="189" name="Google Shape;189;p3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tesztesetek megtervezése specifikáció alapján történtek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hasonló bemenetek csoportosítása (hasonló működés várható) 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határértékek azonosítása (megengedett tartomány határ vagy közvetlen mellette)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5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TUI tesztelés</a:t>
            </a:r>
            <a:endParaRPr sz="3500"/>
          </a:p>
        </p:txBody>
      </p:sp>
      <p:sp>
        <p:nvSpPr>
          <p:cNvPr id="195" name="Google Shape;195;p35"/>
          <p:cNvSpPr txBox="1"/>
          <p:nvPr>
            <p:ph idx="1" type="body"/>
          </p:nvPr>
        </p:nvSpPr>
        <p:spPr>
          <a:xfrm>
            <a:off x="4808425" y="500925"/>
            <a:ext cx="4055100" cy="43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menürendszer megjelenésének ellenőrzése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felhasználói visszajelzések egyértelműsége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hibajelzések olvashatósága és következetessége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6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Tesztesetek és jegyzőkönyv</a:t>
            </a:r>
            <a:endParaRPr sz="3500"/>
          </a:p>
        </p:txBody>
      </p:sp>
      <p:sp>
        <p:nvSpPr>
          <p:cNvPr id="201" name="Google Shape;201;p36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46 végrehajtott teszteset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100%-os tesztelési arány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korábban azonosított hibák a fejlesztés során javításra kerültek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7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Hibakezelés folyamata</a:t>
            </a:r>
            <a:endParaRPr sz="3500"/>
          </a:p>
        </p:txBody>
      </p:sp>
      <p:sp>
        <p:nvSpPr>
          <p:cNvPr id="207" name="Google Shape;207;p37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hiba észlelés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jelzés a fejlesztőknek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javítás kérése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újratesztelés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lezárás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8"/>
          <p:cNvSpPr txBox="1"/>
          <p:nvPr>
            <p:ph type="title"/>
          </p:nvPr>
        </p:nvSpPr>
        <p:spPr>
          <a:xfrm>
            <a:off x="854850" y="1330200"/>
            <a:ext cx="7434300" cy="248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hu" sz="8000"/>
              <a:t>Köszönjük a figyelmet!</a:t>
            </a:r>
            <a:endParaRPr sz="8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