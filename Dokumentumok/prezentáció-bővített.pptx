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Merriweather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5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7.xml"/><Relationship Id="rId44" Type="http://schemas.openxmlformats.org/officeDocument/2006/relationships/font" Target="fonts/Merriweather-bold.fntdata"/><Relationship Id="rId21" Type="http://schemas.openxmlformats.org/officeDocument/2006/relationships/slide" Target="slides/slide16.xml"/><Relationship Id="rId43" Type="http://schemas.openxmlformats.org/officeDocument/2006/relationships/font" Target="fonts/Merriweather-regular.fntdata"/><Relationship Id="rId24" Type="http://schemas.openxmlformats.org/officeDocument/2006/relationships/slide" Target="slides/slide19.xml"/><Relationship Id="rId46" Type="http://schemas.openxmlformats.org/officeDocument/2006/relationships/font" Target="fonts/Merriweather-boldItalic.fntdata"/><Relationship Id="rId23" Type="http://schemas.openxmlformats.org/officeDocument/2006/relationships/slide" Target="slides/slide18.xml"/><Relationship Id="rId45" Type="http://schemas.openxmlformats.org/officeDocument/2006/relationships/font" Target="fonts/Merriweath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5db603d42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5db603d42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5db603d4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5db603d4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5db603d4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5db603d4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5db603d42_1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5db603d42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5db603d42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5db603d42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5db603d42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5db603d42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5db603d42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5db603d42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5db603d42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5db603d42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5db603d42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5db603d42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5db603d42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5db603d42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61a7523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61a7523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61a7523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61a7523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5db603d42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5db603d42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5db603d42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5db603d42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5db603d42_1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5db603d42_1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5db603d42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5db603d42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5db603d42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5db603d42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5db603d42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5db603d42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5db603d42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5db603d42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5db603d42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5db603d42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61a7523e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61a7523e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5db603d42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5db603d42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61a7523e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61a7523e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5db603d42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5db603d42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5db603d42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5db603d42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5db603d42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5db603d42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61a7523e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61a7523e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61a7523e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61a7523e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61a7523e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61a7523e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5db603d42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5db603d42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5db603d42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b5db603d42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5db603d42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b5db603d42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2047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4700"/>
              <a:t>Szoftvertesztelés projektfeladat</a:t>
            </a:r>
            <a:endParaRPr sz="47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5118075" y="4103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Csapat tagjai: Bauer Bálint, Járfás Erik,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Horváth Márk, Bogdán Letti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Csapatok bemutatása</a:t>
            </a:r>
            <a:endParaRPr sz="3500"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hu" sz="2000">
                <a:solidFill>
                  <a:schemeClr val="dk1"/>
                </a:solidFill>
              </a:rPr>
              <a:t>Bérleti szerződés manager szoftver csapata:</a:t>
            </a:r>
            <a:endParaRPr sz="20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Bauer Bálint: Tesztvezető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Járfás Erik: Kézi Tesztelő, Hibarögzítő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Horváth Márk: Teszt Tervező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Bogdán Letti: Tesztelő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hu" sz="2000">
                <a:solidFill>
                  <a:schemeClr val="dk1"/>
                </a:solidFill>
              </a:rPr>
              <a:t>Könyvtári kölcsönző rendszer szoftver csapata:</a:t>
            </a:r>
            <a:endParaRPr sz="20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Káldor Levente: Projektvezető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Lőrincz Márton: Projekt Tesztelési Vezető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Csikós</a:t>
            </a:r>
            <a:r>
              <a:rPr lang="hu" sz="1500">
                <a:solidFill>
                  <a:schemeClr val="dk1"/>
                </a:solidFill>
              </a:rPr>
              <a:t> Bendegúz: Tesztelési Koordinátor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Juhász Arnold: Rendszer- Specifikáció- és Ütemterv Tervező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Feladatunk</a:t>
            </a:r>
            <a:endParaRPr sz="3500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egy Java konzolos szoftver fejlesztése, illetve tesztelése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általunk választott csapat szoftverének a tesztelése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folyamatok dokumentálása, jegyzőkönyv készítése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Célunk</a:t>
            </a:r>
            <a:endParaRPr sz="3500"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Szoftvertesztelés és fejlesztés folyamatának bemutatása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működőképes konzolos alkalmazás fejlesztése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konzolos alkalmazás </a:t>
            </a:r>
            <a:r>
              <a:rPr lang="hu" sz="2300">
                <a:solidFill>
                  <a:schemeClr val="dk1"/>
                </a:solidFill>
              </a:rPr>
              <a:t>teljes körű, részletes</a:t>
            </a:r>
            <a:r>
              <a:rPr lang="hu" sz="2300">
                <a:solidFill>
                  <a:schemeClr val="dk1"/>
                </a:solidFill>
              </a:rPr>
              <a:t> tesztelése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50" y="1834950"/>
            <a:ext cx="73476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Fejlesztett programunk:</a:t>
            </a:r>
            <a:endParaRPr sz="40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hu" sz="4000"/>
              <a:t>Bérleti szerződés manager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Fejlesztés feladatai</a:t>
            </a:r>
            <a:endParaRPr sz="3500"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specifikáció bővítése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szoftver megtervezése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felhasználói útmutató készítése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fejlesztés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fejlesztői dokumentáció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tesztelési jegyzőkönyv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céljai</a:t>
            </a:r>
            <a:endParaRPr sz="3500"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ingatlanbérleti szerződések teljes életciklusának kezelése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</a:t>
            </a:r>
            <a:r>
              <a:rPr lang="hu" sz="2300">
                <a:solidFill>
                  <a:schemeClr val="dk1"/>
                </a:solidFill>
              </a:rPr>
              <a:t>étrehozás, módosítás, törlés, lejárat figyelés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d</a:t>
            </a:r>
            <a:r>
              <a:rPr lang="hu" sz="2300">
                <a:solidFill>
                  <a:schemeClr val="dk1"/>
                </a:solidFill>
              </a:rPr>
              <a:t>igitális, biztonságos nyilvántartás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funkciói</a:t>
            </a:r>
            <a:endParaRPr sz="3500"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4654300" y="22157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teljes életciklusának kezelése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listázása, új szerződés hozzáadása, törlés, keresés, legolcsóbb bérleti díj lekérdezése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</a:t>
            </a:r>
            <a:r>
              <a:rPr lang="hu" sz="2300">
                <a:solidFill>
                  <a:schemeClr val="dk1"/>
                </a:solidFill>
              </a:rPr>
              <a:t>ibás rögzítés megakadályozása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fájlba mentése és betöltése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Fejlesztés folyamata</a:t>
            </a:r>
            <a:endParaRPr sz="3500"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4496100" y="113675"/>
            <a:ext cx="4647900" cy="48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követelmények meghatározása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p</a:t>
            </a:r>
            <a:r>
              <a:rPr lang="hu" sz="2300">
                <a:solidFill>
                  <a:schemeClr val="dk1"/>
                </a:solidFill>
              </a:rPr>
              <a:t>rogram szerkezetének megtervezése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o</a:t>
            </a:r>
            <a:r>
              <a:rPr lang="hu" sz="2300">
                <a:solidFill>
                  <a:schemeClr val="dk1"/>
                </a:solidFill>
              </a:rPr>
              <a:t>sztályok és interfészek létrehozása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</a:t>
            </a:r>
            <a:r>
              <a:rPr lang="hu" sz="2300">
                <a:solidFill>
                  <a:schemeClr val="dk1"/>
                </a:solidFill>
              </a:rPr>
              <a:t>unkciók implementálása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</a:t>
            </a:r>
            <a:r>
              <a:rPr lang="hu" sz="2300">
                <a:solidFill>
                  <a:schemeClr val="dk1"/>
                </a:solidFill>
              </a:rPr>
              <a:t>ibakezelés és adatellenőrzés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dokumentálás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felépítése</a:t>
            </a:r>
            <a:endParaRPr sz="3500"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4644675" y="27937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 program főbb osztályai és interfészei:</a:t>
            </a:r>
            <a:endParaRPr sz="23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Main - program indítása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Szerzodes - szerződés adatai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Berlo - bérlő adatai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BerbeAdo - bérbeadó adatai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iEv, iHonap, iNap - </a:t>
            </a:r>
            <a:r>
              <a:rPr lang="hu" sz="1800">
                <a:solidFill>
                  <a:schemeClr val="dk1"/>
                </a:solidFill>
              </a:rPr>
              <a:t>dátum ellenőrző</a:t>
            </a:r>
            <a:r>
              <a:rPr lang="hu" sz="1800">
                <a:solidFill>
                  <a:schemeClr val="dk1"/>
                </a:solidFill>
              </a:rPr>
              <a:t> interfészek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Segédmetódusok - adatbekérés, fájlkezelés, keresés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működése</a:t>
            </a:r>
            <a:endParaRPr sz="3500"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4663950" y="27940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program indítása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betöltése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főmenü megjelenítése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művelet kiválasztása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ellenőrzött bekérése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eredmény megjelenítése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kilépés vagy új művelet választása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500" y="542438"/>
            <a:ext cx="5977000" cy="405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99798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9300" y="152400"/>
            <a:ext cx="2701318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9761" y="152400"/>
            <a:ext cx="264198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Fejlesztői dokumentáció</a:t>
            </a:r>
            <a:endParaRPr sz="3500"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4650100" y="238900"/>
            <a:ext cx="4386600" cy="48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Objektumorientált felépítés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Moduláris szerkezet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Adatellenőrzés regex és feltételek segítségével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Hibakezelés try-catch blokkokkal 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Felhasználói útmutató</a:t>
            </a:r>
            <a:endParaRPr sz="3500"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konzolos menü megjelenése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menüpont kiválasztása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ellenőrzött bekérése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kimenet megjelenítése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185450" y="1589250"/>
            <a:ext cx="8445600" cy="196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Tesztelt programunk: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Könyvtári kölcsönző rendszer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Tesztelés feladatai</a:t>
            </a:r>
            <a:endParaRPr sz="3500"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4644675" y="2890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Specifikáció, GUI tesztelése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tesztelési terv készítése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tesztelési alapelvek, tesztpiramis szintjeinek ismertetése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statikus tesztelési technikák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hibák jelzése, újratesztelése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Tesztelt program feladatai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4423100" y="375000"/>
            <a:ext cx="4787100" cy="4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Könyvleltár kezelés 5 kategóriában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Tag regisztráció és kezelés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Kölcsönzés és visszahozás feldolgozás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Automatikus büntetésszámítás késedelmes könyvekhez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Statisztikák és jelentések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300"/>
              <a:buFont typeface="Aptos"/>
              <a:buChar char="●"/>
            </a:pPr>
            <a:r>
              <a:rPr lang="hu" sz="2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Terminál Felhasználói Felület (TUI) ANSI színkódokkal</a:t>
            </a:r>
            <a:endParaRPr sz="2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3500"/>
              <a:t>Tesztelt program követelményei</a:t>
            </a:r>
            <a:endParaRPr sz="3500"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4635050" y="260125"/>
            <a:ext cx="4166400" cy="45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aktuális leltár szűrése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könyvek kölcsönzése, visszahozatala, büntetések megtekintése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könyvek keresése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aktív</a:t>
            </a:r>
            <a:r>
              <a:rPr lang="hu" sz="2300">
                <a:solidFill>
                  <a:schemeClr val="dk1"/>
                </a:solidFill>
              </a:rPr>
              <a:t> büntetések megtekintése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statisztikák megjelenítése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bemenet ellenőrzés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Használt tesztelési módszertanok</a:t>
            </a:r>
            <a:endParaRPr sz="3500"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Funkcionális tesztelés:</a:t>
            </a:r>
            <a:endParaRPr sz="23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 menürendszer működésének ellenőrzése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 funkciók helyes működésének vizsgálata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adatbevitel és adatfeldolgozás validációja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Bemenet ellenőrzések</a:t>
            </a:r>
            <a:endParaRPr sz="3500"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4740975" y="500925"/>
            <a:ext cx="3775500" cy="4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Negatív tesztelés:</a:t>
            </a:r>
            <a:endParaRPr sz="23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hibás bemenetek kezelése (szöveg megadása szám helyett)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határértékeken kívüli adatok kezelése</a:t>
            </a:r>
            <a:endParaRPr sz="18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 ID formátum: SF-001 stb.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Tag ID: 000001–999999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25" y="695325"/>
            <a:ext cx="866775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Tesztpiramis</a:t>
            </a:r>
            <a:endParaRPr sz="3500"/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az integrációs tesztelés manuálisan történt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funkcionális és rendszer szintű tesztelés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fókusz</a:t>
            </a:r>
            <a:r>
              <a:rPr lang="hu" sz="2300">
                <a:solidFill>
                  <a:schemeClr val="dk1"/>
                </a:solidFill>
              </a:rPr>
              <a:t> a rendszeren és a funkción volt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763" y="476590"/>
            <a:ext cx="5308475" cy="41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Statikus tesztelés</a:t>
            </a:r>
            <a:endParaRPr sz="3500"/>
          </a:p>
        </p:txBody>
      </p:sp>
      <p:sp>
        <p:nvSpPr>
          <p:cNvPr id="205" name="Google Shape;205;p3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forráskód manuális felülvizsgálata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logikai hibák, inkonzisztenciák és állapotkezelési problémák feltárása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azonosított hibák később dinamikusan tesztelve lettek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Specifikációs </a:t>
            </a:r>
            <a:r>
              <a:rPr lang="hu" sz="3500"/>
              <a:t> tesztelés</a:t>
            </a:r>
            <a:endParaRPr sz="3500"/>
          </a:p>
        </p:txBody>
      </p:sp>
      <p:sp>
        <p:nvSpPr>
          <p:cNvPr id="211" name="Google Shape;211;p38"/>
          <p:cNvSpPr txBox="1"/>
          <p:nvPr>
            <p:ph idx="1" type="body"/>
          </p:nvPr>
        </p:nvSpPr>
        <p:spPr>
          <a:xfrm>
            <a:off x="4654300" y="3564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tesztesetek megtervezése specifikáció alapján történtek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hasonló bemenetek csoportosítása (hasonló működés várható)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határértékek azonosítása (megengedett tartomány határ vagy közvetlen mellette)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TUI tesztelés</a:t>
            </a:r>
            <a:endParaRPr sz="3500"/>
          </a:p>
        </p:txBody>
      </p:sp>
      <p:sp>
        <p:nvSpPr>
          <p:cNvPr id="217" name="Google Shape;217;p39"/>
          <p:cNvSpPr txBox="1"/>
          <p:nvPr>
            <p:ph idx="1" type="body"/>
          </p:nvPr>
        </p:nvSpPr>
        <p:spPr>
          <a:xfrm>
            <a:off x="4808425" y="500925"/>
            <a:ext cx="4055100" cy="4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menürendszer megjelenésének ellenőrzése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felhasználói visszajelzések egyértelműsége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hibajelzések olvashatósága és következetessége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688" y="538275"/>
            <a:ext cx="5048625" cy="40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25" y="200575"/>
            <a:ext cx="27241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725" y="2908350"/>
            <a:ext cx="7343775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725" y="954375"/>
            <a:ext cx="4457700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00" y="56075"/>
            <a:ext cx="3226875" cy="503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7500" y="152400"/>
            <a:ext cx="480279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/>
          <p:nvPr>
            <p:ph type="title"/>
          </p:nvPr>
        </p:nvSpPr>
        <p:spPr>
          <a:xfrm>
            <a:off x="420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Tesztesetek és jegyzőkönyv</a:t>
            </a:r>
            <a:endParaRPr sz="3500"/>
          </a:p>
        </p:txBody>
      </p:sp>
      <p:sp>
        <p:nvSpPr>
          <p:cNvPr id="241" name="Google Shape;241;p4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46 végrehajtott teszteset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100%-os tesztelési arány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korábban azonosított hibák a fejlesztés során javításra kerültek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Hibakezelés folyamata</a:t>
            </a:r>
            <a:endParaRPr sz="3500"/>
          </a:p>
        </p:txBody>
      </p:sp>
      <p:sp>
        <p:nvSpPr>
          <p:cNvPr id="247" name="Google Shape;247;p4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 észlelés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jelzés a fejlesztőknek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javítás kérése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újratesztelés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lezárás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 txBox="1"/>
          <p:nvPr>
            <p:ph type="title"/>
          </p:nvPr>
        </p:nvSpPr>
        <p:spPr>
          <a:xfrm>
            <a:off x="854850" y="1330200"/>
            <a:ext cx="7434300" cy="248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 sz="8000"/>
              <a:t>Köszönjük a figyelmet!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